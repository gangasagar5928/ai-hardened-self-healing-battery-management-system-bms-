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84FF"/>
                </a:solidFill>
                <a:latin typeface="Calibri"/>
              </a:rPr>
              <a:t>SLIDE 1 OF 3  •  7-LAYER SELF-HEALING ARCHITECTURE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Self-Healing Cyber-Hardened BMS &amp; Digital Twin Blueprint</a:t>
            </a:r>
          </a:p>
        </p:txBody>
      </p:sp>
      <p:pic>
        <p:nvPicPr>
          <p:cNvPr id="5" name="Picture 4" descr="media__17854322788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49808"/>
            <a:ext cx="8595360" cy="54308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0C0C18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54456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0"/>
                </a:solidFill>
                <a:latin typeface="Calibri"/>
              </a:rPr>
              <a:t>References &amp; Specs: TI BQ76920 AFE Datasheet | ESP32 TWAI CAN Specification | ISO 11898-1:2015 | Indian Patent Provisional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754880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4"/>
                </a:solidFill>
                <a:latin typeface="Calibri"/>
              </a:rPr>
              <a:t>Slide 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0A"/>
                </a:solidFill>
                <a:latin typeface="Calibri"/>
              </a:rPr>
              <a:t>SLIDE 2 OF 3  •  HARDWARE &amp; DIGITAL TWIN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Hardware Implementation, BOM &amp; Digital Twin Synchronization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4980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749808"/>
            <a:ext cx="54864" cy="132588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804671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ESP32 Microcontrollers (x3)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042415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BMS Master + Attacker + TCU Gateway
Dual-core 240MHz Xtensa LX6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171907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01368" y="173736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84FF"/>
                </a:solidFill>
                <a:latin typeface="Calibri"/>
              </a:rPr>
              <a:t>Rs. 1,140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74980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749808"/>
            <a:ext cx="54864" cy="1325880"/>
          </a:xfrm>
          <a:prstGeom prst="rect">
            <a:avLst/>
          </a:prstGeom>
          <a:solidFill>
            <a:srgbClr val="BF5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804671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 BQ76920 AFE 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042415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Voltage/Current/Temp sensing (Up to 16S)
Hardware OVP/UVP 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60" y="171907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BF5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173736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F5AF2"/>
                </a:solidFill>
                <a:latin typeface="Calibri"/>
              </a:rPr>
              <a:t>Rs. 520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74980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08192" y="749808"/>
            <a:ext cx="54864" cy="132588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804671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SN65HVD230 Transceivers (x3)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42415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3.3V CAN Transceivers (ISO 11898-2)
500 kbps differential bus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16952" y="171907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173736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9F0A"/>
                </a:solidFill>
                <a:latin typeface="Calibri"/>
              </a:rPr>
              <a:t>Rs. 360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" y="216712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2608" y="2167128"/>
            <a:ext cx="54864" cy="132588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2221992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Battery Pack (16S Li-ion)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2459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57.6V Nominal Pack (55.8V / 12.4A live)
Local 4S prototype sub-module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01368" y="313639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01368" y="315468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0D158"/>
                </a:solidFill>
                <a:latin typeface="Calibri"/>
              </a:rPr>
              <a:t>Rs. 1,050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16712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2167128"/>
            <a:ext cx="54864" cy="1325880"/>
          </a:xfrm>
          <a:prstGeom prst="rect">
            <a:avLst/>
          </a:prstGeom>
          <a:solidFill>
            <a:srgbClr val="5A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0128" y="2221992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Cell Balancing &amp; Reconfig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2459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IRLML2502 N-ch MOSFETs (45mΩ)
Passive balancing &amp; isolation switches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313639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09160" y="315468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5AC8FA"/>
                </a:solidFill>
                <a:latin typeface="Calibri"/>
              </a:rPr>
              <a:t>Rs. 75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2167128"/>
            <a:ext cx="2788920" cy="1325880"/>
          </a:xfrm>
          <a:prstGeom prst="rect">
            <a:avLst/>
          </a:prstGeom>
          <a:solidFill>
            <a:srgbClr val="1A1A22"/>
          </a:solidFill>
          <a:ln w="9525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08192" y="2167128"/>
            <a:ext cx="54864" cy="1325880"/>
          </a:xfrm>
          <a:prstGeom prst="rect">
            <a:avLst/>
          </a:prstGeom>
          <a:solidFill>
            <a:srgbClr val="FF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2221992"/>
            <a:ext cx="260603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Digital Twin &amp; Telematics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459736"/>
            <a:ext cx="2606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0">
                <a:solidFill>
                  <a:srgbClr val="888894"/>
                </a:solidFill>
                <a:latin typeface="Calibri"/>
              </a:rPr>
              <a:t>Virtual battery model predicting SoH
MQTT over TLS to Cloud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16952" y="3136392"/>
            <a:ext cx="1188719" cy="256032"/>
          </a:xfrm>
          <a:prstGeom prst="rect">
            <a:avLst/>
          </a:prstGeom>
          <a:solidFill>
            <a:srgbClr val="0C0C18"/>
          </a:solidFill>
          <a:ln w="9525">
            <a:solidFill>
              <a:srgbClr val="FF4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16952" y="3154680"/>
            <a:ext cx="1188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53A"/>
                </a:solidFill>
                <a:latin typeface="Calibri"/>
              </a:rPr>
              <a:t>Rs. 180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" y="3675887"/>
            <a:ext cx="8558784" cy="777240"/>
          </a:xfrm>
          <a:prstGeom prst="rect">
            <a:avLst/>
          </a:prstGeom>
          <a:solidFill>
            <a:srgbClr val="071607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370332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0D158"/>
                </a:solidFill>
                <a:latin typeface="Calibri"/>
              </a:rPr>
              <a:t>PROTOTYPE COST:  Rs. 3,879  ( ≈ $46 USD )  |  DIGITAL TWIN &amp; HARDWARE METRICS: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" y="39136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• Digital Twin Virtual Model: SoH Prediction = 82%  |  R_int Growth = +12.4%  |  Capacity Fade = -8.7%  |  Thermal Pred = 43.2 °C (10 min)
• Embedded Resource Profile: Core 0 CPU = 14.2% avg  • Core 1 CPU = 8.6% avg  • SRAM = 38.4 KB / 520 KB (7.4%)  • Latency = 0.35 ms
• Cloud Dashboard Telemetry: Voltage = 55.8 V, Current = 12.4 A, Trust Score = 0.86 (HIGH), Anomaly Score = 0.12 (NORMAL), RUL = 4.2 Yrs.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0C0C18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54456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0"/>
                </a:solidFill>
                <a:latin typeface="Calibri"/>
              </a:rPr>
              <a:t>References &amp; Specs: Prices verified on ElectroPi.in &amp; Robu.in | Software Digital Twin &amp; Hardware Bench Profiling on ESP32 &amp; MATLAB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754880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4"/>
                </a:solidFill>
                <a:latin typeface="Calibri"/>
              </a:rPr>
              <a:t>Slide 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0D158"/>
                </a:solidFill>
                <a:latin typeface="Calibri"/>
              </a:rPr>
              <a:t>SLIDE 3 OF 3  •  SELF-HEALING ACTIVE RECOVERY &amp; VERIFIED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How It Works — Active Recovery &amp; Self-Healing Decision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749808"/>
            <a:ext cx="2029968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749808"/>
            <a:ext cx="202996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795528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1: Sensor &amp;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972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4"/>
                </a:solidFill>
                <a:latin typeface="Calibri"/>
              </a:rPr>
              <a:t>BQ76920 senses V, I, T.
Digital Twin compares real data vs virtual model predictions.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743200"/>
            <a:ext cx="184708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0A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798064"/>
            <a:ext cx="1847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84FF"/>
                </a:solidFill>
                <a:latin typeface="Calibri"/>
              </a:rPr>
              <a:t>Twin Sync (82% SoH)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749808"/>
            <a:ext cx="2029968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79" y="749808"/>
            <a:ext cx="202996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795528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2: Core 0 ML-IDS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0972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4"/>
                </a:solidFill>
                <a:latin typeface="Calibri"/>
              </a:rPr>
              <a:t>Core 0 extracts dt, freq, var, &amp; entropy.
Random Forest computes Anomaly Score S in &lt;0.35 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743200"/>
            <a:ext cx="184708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FF9F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2798064"/>
            <a:ext cx="1847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9F0A"/>
                </a:solidFill>
                <a:latin typeface="Calibri"/>
              </a:rPr>
              <a:t>Score S &lt; 0.35ms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45152" y="749808"/>
            <a:ext cx="2029968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45152" y="749808"/>
            <a:ext cx="202996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18304" y="795528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3: Adaptive EKF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6592" y="10972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4"/>
                </a:solidFill>
                <a:latin typeface="Calibri"/>
              </a:rPr>
              <a:t>Dynamic R-Scaling: R_new = R_base * exp(10*S).
Under attack (S-&gt;1), Gain K-&gt;0, ignoring corrupt inputs.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36592" y="2743200"/>
            <a:ext cx="184708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2798064"/>
            <a:ext cx="1847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C8FA"/>
                </a:solidFill>
                <a:latin typeface="Calibri"/>
              </a:rPr>
              <a:t>Gain K -&gt;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749808"/>
            <a:ext cx="2029968" cy="2423160"/>
          </a:xfrm>
          <a:prstGeom prst="rect">
            <a:avLst/>
          </a:prstGeom>
          <a:solidFill>
            <a:srgbClr val="1A1A22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21424" y="749808"/>
            <a:ext cx="202996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795528"/>
            <a:ext cx="18836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Step 4: Self-Healing &amp; TCU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1097280"/>
            <a:ext cx="1847088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94"/>
                </a:solidFill>
                <a:latin typeface="Calibri"/>
              </a:rPr>
              <a:t>L5 Engine executes: Reduce charge / Limp-home / Isolate cell.
TCU ESP32 streams forensic log to MQTT Cloud.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12864" y="2743200"/>
            <a:ext cx="1847088" cy="292608"/>
          </a:xfrm>
          <a:prstGeom prst="rect">
            <a:avLst/>
          </a:prstGeom>
          <a:solidFill>
            <a:srgbClr val="0C0C18"/>
          </a:solidFill>
          <a:ln w="9525">
            <a:solidFill>
              <a:srgbClr val="30D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12864" y="2798064"/>
            <a:ext cx="18470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0D158"/>
                </a:solidFill>
                <a:latin typeface="Calibri"/>
              </a:rPr>
              <a:t>Active Recovery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2608" y="3291840"/>
            <a:ext cx="8558784" cy="1143000"/>
          </a:xfrm>
          <a:prstGeom prst="rect">
            <a:avLst/>
          </a:prstGeom>
          <a:solidFill>
            <a:srgbClr val="061222"/>
          </a:solidFill>
          <a:ln w="9525">
            <a:solidFill>
              <a:srgbClr val="5AC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319272"/>
            <a:ext cx="8321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C8FA"/>
                </a:solidFill>
                <a:latin typeface="Calibri"/>
              </a:rPr>
              <a:t>VERIFIED METRICS, SELF-HEALING ACTIONS &amp; FORENSIC LOG NOTICE: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FFFFFF"/>
                </a:solidFill>
                <a:latin typeface="Calibri"/>
              </a:rPr>
              <a:t>• Accuracy: 99.20%  |  Precision: 98.82%  |  Recall: 99.51%  |  F1-Score: 99.16%  |  Macro ROC-AUC: 0.9942  |  PR-AUC: 0.9931
• Self-Healing Actions: Continue Normal  • Reduce Charge Current  • Disable Balancing  • Limp-Home Mode  • Cell Isolation
• Forensic Log Sample: [10:24:15] DoS Detected (0x000) -&gt; [10:24:16] Frame Dropped (Trust: 0.42) -&gt; [10:24:17] Action: Reduce Charge Current -&gt; [10:24:18] Cell-7 Isolated -&gt; [10:24:20] Uploaded to Cloud
• PROACTIVE NOTICE: FreeRTOS C++ code, ML models, &amp; MATLAB sims are 100% verified; physical bench trials are 'To Be Tested'.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526280"/>
            <a:ext cx="8503920" cy="201168"/>
          </a:xfrm>
          <a:prstGeom prst="rect">
            <a:avLst/>
          </a:prstGeom>
          <a:solidFill>
            <a:srgbClr val="0C0C18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544568"/>
            <a:ext cx="8229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A0"/>
                </a:solidFill>
                <a:latin typeface="Calibri"/>
              </a:rPr>
              <a:t>References &amp; Specs: Taborelli &amp; Onori (2014) IEEE ITEC | Plett G.L. Battery Management Systems Vol II | Scikit-Learn Multiclass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54880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94"/>
                </a:solidFill>
                <a:latin typeface="Calibri"/>
              </a:rPr>
              <a:t>Slide 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