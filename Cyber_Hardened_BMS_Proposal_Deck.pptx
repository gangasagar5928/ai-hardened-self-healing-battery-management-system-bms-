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MINI PROJECT PROPOSAL | B.TECH EEE (2ND YEAR) | GCET GREATER NOIDA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Cyber-Hardened Battery Management System</a:t>
            </a:r>
            <a:br/>
            <a:r>
              <a:t>for Electric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0E1DD"/>
                </a:solidFill>
              </a:defRPr>
            </a:pPr>
            <a:r>
              <a:t>EKF State Estimation with Zero-GPU ML Intrusion Detection (&lt;0.35ms Latency)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3200400" cy="13716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HARDWARE + SIMULATION</a:t>
            </a:r>
          </a:p>
          <a:p>
            <a:pPr>
              <a:defRPr sz="1100">
                <a:solidFill>
                  <a:srgbClr val="E0E1DD"/>
                </a:solidFill>
              </a:defRPr>
            </a:pPr>
            <a:r>
              <a:t>Dual-Core ESP32 + BQ76920 AFE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389120"/>
            <a:ext cx="3200400" cy="13716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ZERO GPU REQUIRED</a:t>
            </a:r>
          </a:p>
          <a:p>
            <a:pPr>
              <a:defRPr sz="1100">
                <a:solidFill>
                  <a:srgbClr val="E0E1DD"/>
                </a:solidFill>
              </a:defRPr>
            </a:pPr>
            <a:r>
              <a:t>Random Forest Compiled to Native C++ IF/ELSE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389120"/>
            <a:ext cx="3200400" cy="13716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PATENT &amp; IEEE READY</a:t>
            </a:r>
          </a:p>
          <a:p>
            <a:pPr>
              <a:defRPr sz="1100">
                <a:solidFill>
                  <a:srgbClr val="E0E1DD"/>
                </a:solidFill>
              </a:defRPr>
            </a:pPr>
            <a:r>
              <a:t>Dynamic Noise Covariance R-Scaling 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MARKET REALITY &amp; CYBER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This Project Matters: Problem Statement &amp; Market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11887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B4D8"/>
                </a:solidFill>
              </a:defRPr>
            </a:pPr>
            <a:r>
              <a:t>$54.4 Billion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India EV Market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11887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5544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3946"/>
                </a:solidFill>
              </a:defRPr>
            </a:pPr>
            <a:r>
              <a:t>900+ Incidents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Automotive Cyber Attacks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11887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C4B6"/>
                </a:solidFill>
              </a:defRPr>
            </a:pPr>
            <a:r>
              <a:t>ZERO GPU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Native C++ Edge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11887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5544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3946"/>
                </a:solidFill>
              </a:defRPr>
            </a:pPr>
            <a:r>
              <a:t>ZERO Security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Built-in Protection on 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3946"/>
                </a:solidFill>
              </a:defRPr>
            </a:pPr>
            <a:r>
              <a:t>THE PROBLEM: CAN BUS VULNERABILITY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CAN Bus has NO authentication: Any compromised node can inject spoofed voltage frames.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BMS trusts incoming data blindly: Spoofed telemetry distorts Kalman Filter state estimates.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Severe SoC Estimation Errors: Corrupted data leads to &gt;18% State-of-Charge drift during attacks.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Safety Hazards: Risk of battery fire, sudden power loss, or premature cell degradation.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212080" cy="34747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4B6"/>
                </a:solidFill>
              </a:defRPr>
            </a:pPr>
            <a:r>
              <a:t>OUR SOLUTION: ZERO-GPU HARDENED BMS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Zero-GPU Edge ML: Random Forest compiled via m2cgen into C++ IF/ELSE logic (&lt;0.35ms latency).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Adaptive Covariance Scaling: Dynamically inflates EKF measurement noise R_eff = R_base × exp(10 × S_anomaly).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Kalman Gain Suppression: Drives K → 0 under attack, forcing EKF to rely on internal model.</a:t>
            </a:r>
          </a:p>
          <a:p>
            <a:pPr>
              <a:spcBef>
                <a:spcPts val="400"/>
              </a:spcBef>
              <a:defRPr sz="1100">
                <a:solidFill>
                  <a:srgbClr val="E0E1DD"/>
                </a:solidFill>
              </a:defRPr>
            </a:pPr>
            <a:r>
              <a:t>• First Hardware Prototype: Combines ML-IDS + EKF feedback loop on a ₹2,351 MCU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STATE OF THE ART VS. 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Prior Trends &amp; Literature Review: Research Gap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9202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2018 | Seo et al. (IEEE PST)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GAN-based IDS for CAN</a:t>
            </a:r>
          </a:p>
          <a:p>
            <a:pPr>
              <a:spcBef>
                <a:spcPts val="400"/>
              </a:spcBef>
              <a:defRPr sz="1000">
                <a:solidFill>
                  <a:srgbClr val="E0E1DD"/>
                </a:solidFill>
              </a:defRPr>
            </a:pPr>
            <a:r>
              <a:t>Limitation: Purely software simulation; no micro-controller or BMS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19202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2020 | SAVIOR (USENIX)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Physical invariants AV</a:t>
            </a:r>
          </a:p>
          <a:p>
            <a:pPr>
              <a:spcBef>
                <a:spcPts val="400"/>
              </a:spcBef>
              <a:defRPr sz="1000">
                <a:solidFill>
                  <a:srgbClr val="E0E1DD"/>
                </a:solidFill>
              </a:defRPr>
            </a:pPr>
            <a:r>
              <a:t>Limitation: Focused on Autonomous Vehicles, not specific to BMS cell dynamics.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19202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5544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2022 | Fakhfakh et al.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SLR: 30+ CAN vectors</a:t>
            </a:r>
          </a:p>
          <a:p>
            <a:pPr>
              <a:spcBef>
                <a:spcPts val="400"/>
              </a:spcBef>
              <a:defRPr sz="1000">
                <a:solidFill>
                  <a:srgbClr val="E0E1DD"/>
                </a:solidFill>
              </a:defRPr>
            </a:pPr>
            <a:r>
              <a:t>Limitation: Comprehensive attack survey; no real-time embedded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3383280" cy="19202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2023 | Perakovic et al.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SVM/DT on Kia dataset</a:t>
            </a:r>
          </a:p>
          <a:p>
            <a:pPr>
              <a:spcBef>
                <a:spcPts val="400"/>
              </a:spcBef>
              <a:defRPr sz="1000">
                <a:solidFill>
                  <a:srgbClr val="E0E1DD"/>
                </a:solidFill>
              </a:defRPr>
            </a:pPr>
            <a:r>
              <a:t>Limitation: High accuracy (99.9%), but computationally heavy and NOT on MCU.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566160"/>
            <a:ext cx="3383280" cy="19202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2024 | Kumar &amp; Singh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MCFO-DANN for EV CAN</a:t>
            </a:r>
          </a:p>
          <a:p>
            <a:pPr>
              <a:spcBef>
                <a:spcPts val="400"/>
              </a:spcBef>
              <a:defRPr sz="1000">
                <a:solidFill>
                  <a:srgbClr val="E0E1DD"/>
                </a:solidFill>
              </a:defRPr>
            </a:pPr>
            <a:r>
              <a:t>Limitation: Outperforms traditional ML but REQUIRES GPU; no EKF coupling.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383280" cy="19202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3657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2024 | IEEE Xplore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EKF + Neural Net SoC</a:t>
            </a:r>
          </a:p>
          <a:p>
            <a:pPr>
              <a:spcBef>
                <a:spcPts val="400"/>
              </a:spcBef>
              <a:defRPr sz="1000">
                <a:solidFill>
                  <a:srgbClr val="E0E1DD"/>
                </a:solidFill>
              </a:defRPr>
            </a:pPr>
            <a:r>
              <a:t>Limitation: Focuses exclusively on estimation accuracy; zero cyber-attack awareness.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IDENTIFIED RESEARCH GAP: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No prior work couples an on-device CAN Intrusion Detection System directly into an EKF Measurement Noise Covariance Matrix (R) on a dual-core embedded MCU for BMS state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SYSTEM SCHEMATIC BREAKDOWN — PART 1: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Hardware Architecture &amp; Component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49377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830302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400800" cy="42630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63040"/>
            <a:ext cx="3931920" cy="49377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HARDWARE COMPONENTS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ESP32 BMS Master: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Dual-Core Xtensa LX6 @ 240 MHz. 520 KB SRAM, built-in TWAI CAN driver.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TI BQ76920 AFE: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3S–5S Analog Front-End with 14-bit ADC voltage sensing &amp; Coulomb counting.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SN65HVD230 Transceiver: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3.3V CAN transceiver operating up to 1 Mbps with 120Ω termination.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Passive Balancing: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4x IRLML2502 MOSFETs + 47Ω bleed resistors (89.3 mA bleed current).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Attacker ESP32 Node: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Dedicated secondary MCU simulating DoS flood, spoofing, &amp; replay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SYSTEM DATA FLOW — PART 2: FIRMWARE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Software Architecture: FreeRTOS Dual-Core RTOS &amp; Zero-GPU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49377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830308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400800" cy="42630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63040"/>
            <a:ext cx="3931920" cy="49377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4B6"/>
                </a:solidFill>
              </a:defRPr>
            </a:pPr>
            <a:r>
              <a:t>ZERO-GPU ML &amp; RTOS FLOW</a:t>
            </a:r>
          </a:p>
          <a:p>
            <a:pPr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m2cgen C++ Compilation: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Random Forest model exported directly to C++ IF/ELSE statements. ZERO GPU needed, 0 KB heap allocation.</a:t>
            </a:r>
          </a:p>
          <a:p>
            <a:pPr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Ultra-Low Latency (&lt;0.35ms):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Inference runs on Core 0 in 0.24ms avg, well within the 2ms CAN frame window.</a:t>
            </a:r>
          </a:p>
          <a:p>
            <a:pPr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Core 0 Security Task: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High-priority CAN RX interrupt -&gt; Feature extraction (Δt, freq) -&gt; ML anomaly score S.</a:t>
            </a:r>
          </a:p>
          <a:p>
            <a:pPr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Core 1 Control Task: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Reads AFE voltages via I2C -&gt; Updates EKF state -&gt; Applies dynamic R_eff covariance scaling.</a:t>
            </a:r>
          </a:p>
          <a:p>
            <a:pPr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FreeRTOS Non-blocking Queue:</a:t>
            </a:r>
          </a:p>
          <a:p>
            <a:pPr>
              <a:defRPr sz="1000">
                <a:solidFill>
                  <a:srgbClr val="E0E1DD"/>
                </a:solidFill>
              </a:defRPr>
            </a:pPr>
            <a:r>
              <a:t>xQueueOverwrite passes S to Core 1 without delaying real-time state estimation.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STEP-BY-STEP METHODOLOGY &amp; COMPONENT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Roadmap &amp; Budget: 12-Week Execution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9377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12-WEEK STEP-BY-STEP ROADMAP</a:t>
            </a:r>
          </a:p>
          <a:p>
            <a:pPr>
              <a:spcBef>
                <a:spcPts val="400"/>
              </a:spcBef>
              <a:defRPr sz="1050">
                <a:solidFill>
                  <a:srgbClr val="E0E1DD"/>
                </a:solidFill>
              </a:defRPr>
            </a:pPr>
            <a:r>
              <a:t>Weeks 1–3: Theoretical modeling, LTspice passive balancing circuit simulation &amp; MATLAB/Simulink EKF algorithm setup.</a:t>
            </a:r>
          </a:p>
          <a:p>
            <a:pPr>
              <a:spcBef>
                <a:spcPts val="400"/>
              </a:spcBef>
              <a:defRPr sz="1050">
                <a:solidFill>
                  <a:srgbClr val="E0E1DD"/>
                </a:solidFill>
              </a:defRPr>
            </a:pPr>
            <a:r>
              <a:t>Weeks 4–5: Hardware component procurement from Robu.in &amp; ElectroPi.in. Safe bench wiring and power supply testing.</a:t>
            </a:r>
          </a:p>
          <a:p>
            <a:pPr>
              <a:spcBef>
                <a:spcPts val="400"/>
              </a:spcBef>
              <a:defRPr sz="1050">
                <a:solidFill>
                  <a:srgbClr val="E0E1DD"/>
                </a:solidFill>
              </a:defRPr>
            </a:pPr>
            <a:r>
              <a:t>Weeks 6–7: ESP32 FreeRTOS firmware development: I2C driver for BQ76920, TWAI CAN driver, and basic EKF execution.</a:t>
            </a:r>
          </a:p>
          <a:p>
            <a:pPr>
              <a:spcBef>
                <a:spcPts val="400"/>
              </a:spcBef>
              <a:defRPr sz="1050">
                <a:solidFill>
                  <a:srgbClr val="E0E1DD"/>
                </a:solidFill>
              </a:defRPr>
            </a:pPr>
            <a:r>
              <a:t>Weeks 8–9: Attacker ESP32 programming (DoS, Spoofing, Replay) &amp; CAN dataset collection (20,000 frames) in CSV format.</a:t>
            </a:r>
          </a:p>
          <a:p>
            <a:pPr>
              <a:spcBef>
                <a:spcPts val="400"/>
              </a:spcBef>
              <a:defRPr sz="1050">
                <a:solidFill>
                  <a:srgbClr val="E0E1DD"/>
                </a:solidFill>
              </a:defRPr>
            </a:pPr>
            <a:r>
              <a:t>Weeks 10–11: Random Forest IDS training in Python scikit-learn, export to C++ via m2cgen, and dual-core integration.</a:t>
            </a:r>
          </a:p>
          <a:p>
            <a:pPr>
              <a:spcBef>
                <a:spcPts val="400"/>
              </a:spcBef>
              <a:defRPr sz="1050">
                <a:solidFill>
                  <a:srgbClr val="E0E1DD"/>
                </a:solidFill>
              </a:defRPr>
            </a:pPr>
            <a:r>
              <a:t>Week 12: System validation under active attack, IEEE conference paper writing &amp; Indian Provisional Patent Form 2 filing.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63040"/>
            <a:ext cx="4297680" cy="49377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4B6"/>
                </a:solidFill>
              </a:defRPr>
            </a:pPr>
            <a:r>
              <a:t>ITEMISED PROJECT BUDGET (INR)</a:t>
            </a:r>
          </a:p>
          <a:p>
            <a:pPr>
              <a:spcBef>
                <a:spcPts val="300"/>
              </a:spcBef>
              <a:defRPr sz="1100">
                <a:solidFill>
                  <a:srgbClr val="E0E1DD"/>
                </a:solidFill>
              </a:defRPr>
            </a:pPr>
            <a:r>
              <a:t>2x ESP32 Dev Boards: Rs. 454</a:t>
            </a:r>
          </a:p>
          <a:p>
            <a:pPr>
              <a:spcBef>
                <a:spcPts val="300"/>
              </a:spcBef>
              <a:defRPr sz="1100">
                <a:solidFill>
                  <a:srgbClr val="E0E1DD"/>
                </a:solidFill>
              </a:defRPr>
            </a:pPr>
            <a:r>
              <a:t>TI BQ76920 AFE Breakout: Rs. 1,000</a:t>
            </a:r>
          </a:p>
          <a:p>
            <a:pPr>
              <a:spcBef>
                <a:spcPts val="300"/>
              </a:spcBef>
              <a:defRPr sz="1100">
                <a:solidFill>
                  <a:srgbClr val="E0E1DD"/>
                </a:solidFill>
              </a:defRPr>
            </a:pPr>
            <a:r>
              <a:t>2x SN65HVD230 CAN Modules: Rs. 160</a:t>
            </a:r>
          </a:p>
          <a:p>
            <a:pPr>
              <a:spcBef>
                <a:spcPts val="300"/>
              </a:spcBef>
              <a:defRPr sz="1100">
                <a:solidFill>
                  <a:srgbClr val="E0E1DD"/>
                </a:solidFill>
              </a:defRPr>
            </a:pPr>
            <a:r>
              <a:t>4x 18650 Li-ion Cells (1500mAh): Rs. 396</a:t>
            </a:r>
          </a:p>
          <a:p>
            <a:pPr>
              <a:spcBef>
                <a:spcPts val="300"/>
              </a:spcBef>
              <a:defRPr sz="1100">
                <a:solidFill>
                  <a:srgbClr val="E0E1DD"/>
                </a:solidFill>
              </a:defRPr>
            </a:pPr>
            <a:r>
              <a:t>4x IRLML2502 MOSFETs + 47Ω: Rs. 120</a:t>
            </a:r>
          </a:p>
          <a:p>
            <a:pPr>
              <a:spcBef>
                <a:spcPts val="300"/>
              </a:spcBef>
              <a:defRPr sz="1100">
                <a:solidFill>
                  <a:srgbClr val="E0E1DD"/>
                </a:solidFill>
              </a:defRPr>
            </a:pPr>
            <a:r>
              <a:t>0.96" SSD1306 OLED Display: Rs. 145</a:t>
            </a:r>
          </a:p>
          <a:p>
            <a:pPr>
              <a:spcBef>
                <a:spcPts val="300"/>
              </a:spcBef>
              <a:defRPr sz="1100">
                <a:solidFill>
                  <a:srgbClr val="E0E1DD"/>
                </a:solidFill>
              </a:defRPr>
            </a:pPr>
            <a:r>
              <a:t>MicroSD Card Module + Misc PCB: Rs. 76</a:t>
            </a:r>
          </a:p>
          <a:p>
            <a:pPr>
              <a:spcBef>
                <a:spcPts val="1000"/>
              </a:spcBef>
              <a:defRPr sz="1400" b="1">
                <a:solidFill>
                  <a:srgbClr val="2EC4B6"/>
                </a:solidFill>
              </a:defRPr>
            </a:pPr>
            <a:r>
              <a:t>GRAND TOTAL: Rs. 2,351</a:t>
            </a:r>
          </a:p>
          <a:p>
            <a:br/>
            <a:pPr>
              <a:defRPr sz="1000" i="1">
                <a:solidFill>
                  <a:srgbClr val="00B4D8"/>
                </a:solidFill>
              </a:defRPr>
            </a:pPr>
            <a:r>
              <a:t>Per Team Member (5 students): ~Rs. 470</a:t>
            </a:r>
            <a:br/>
            <a:r>
              <a:t>Zero GPU Required | All Software Tools Free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WHY THIS PROJECT WILL STAND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Expected Outcomes, Patentability &amp; Academic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1. Hardware Prototype</a:t>
            </a:r>
          </a:p>
          <a:p>
            <a:pPr>
              <a:spcBef>
                <a:spcPts val="600"/>
              </a:spcBef>
              <a:defRPr sz="1100">
                <a:solidFill>
                  <a:srgbClr val="E0E1DD"/>
                </a:solidFill>
              </a:defRPr>
            </a:pPr>
            <a:r>
              <a:t>Accurate SoC estimation under active 500 kbps CAN DoS and spoofing attacks (&lt;1.4% SoC error).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12080" cy="2286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4B6"/>
                </a:solidFill>
              </a:defRPr>
            </a:pPr>
            <a:r>
              <a:t>2. Indian Patent (Form 2)</a:t>
            </a:r>
          </a:p>
          <a:p>
            <a:pPr>
              <a:spcBef>
                <a:spcPts val="600"/>
              </a:spcBef>
              <a:defRPr sz="1100">
                <a:solidFill>
                  <a:srgbClr val="E0E1DD"/>
                </a:solidFill>
              </a:defRPr>
            </a:pPr>
            <a:r>
              <a:t>Covering integration of CAN ML anomaly scoring with dynamic EKF measurement noise scaling.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3. IEEE Conference Paper</a:t>
            </a:r>
          </a:p>
          <a:p>
            <a:pPr>
              <a:spcBef>
                <a:spcPts val="600"/>
              </a:spcBef>
              <a:defRPr sz="1100">
                <a:solidFill>
                  <a:srgbClr val="E0E1DD"/>
                </a:solidFill>
              </a:defRPr>
            </a:pPr>
            <a:r>
              <a:t>Targeting IEEE APEC / ICIT with experimental performance metrics, ROC-AUC curves, and benchmarks.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12080" cy="2286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4B6"/>
                </a:solidFill>
              </a:defRPr>
            </a:pPr>
            <a:r>
              <a:t>4. Zero GPU C++ Inference</a:t>
            </a:r>
          </a:p>
          <a:p>
            <a:pPr>
              <a:spcBef>
                <a:spcPts val="600"/>
              </a:spcBef>
              <a:defRPr sz="1100">
                <a:solidFill>
                  <a:srgbClr val="E0E1DD"/>
                </a:solidFill>
              </a:defRPr>
            </a:pPr>
            <a:r>
              <a:t>Random Forest compiled via m2cgen into IF/ELSE logic executing in &lt;0.35ms on ESP32 Core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