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4600" y="914400"/>
            <a:ext cx="4114800" cy="320040"/>
          </a:xfrm>
          <a:prstGeom prst="rect">
            <a:avLst/>
          </a:prstGeom>
          <a:solidFill>
            <a:srgbClr val="E0F2FE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4600" y="960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84FF"/>
                </a:solidFill>
                <a:latin typeface="Calibri"/>
              </a:rPr>
              <a:t>2ND YEAR MINI PROJECT CONCEPT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172A"/>
                </a:solidFill>
                <a:latin typeface="Calibri"/>
              </a:rPr>
              <a:t>Self-Healing Cyber-Hardened
Battery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A Smart &amp; Resilient 7-Layer Security Architecture to Protect Electric Vehicles
from Cyber Attacks &amp; Battery Malfunctions with Digital Twin Synchronization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84FF"/>
                </a:solidFill>
                <a:latin typeface="Calibri"/>
              </a:rPr>
              <a:t>Department of Electrical &amp; Electronics Engineering (EEE)
Galgotias College of Engineering and Technology (GCET)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0" y="1645920"/>
            <a:ext cx="73152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libri"/>
              </a:rPr>
              <a:t>01 / The 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Calibri"/>
              </a:rPr>
              <a:t>Understanding why smart Electric Vehicles need cybersecurity
protection at the battery level.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Why EV Batteries Need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931920" cy="347472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84FF"/>
                </a:solidFill>
                <a:latin typeface="Calibri"/>
              </a:rPr>
              <a:t>The Brain of an Electric Vehicle: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The Battery Management System (BMS) continuously monitors cell voltage, current, and temperature to ensure safe driving and optimal charging.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The Hidden Vulnerability: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Modern EVs communicate wirelessly (via Bluetooth) and internally (via CAN Bus network). These channels currently lack strong security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The Danger: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Hackers can inject false data to trick the BMS into overcharging cells, causing thermal runaway or sudden battery power cut-offs.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39319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_17854322788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43000"/>
            <a:ext cx="3840480" cy="24265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Vulnerabilities in Connected EVs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931920" cy="347472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84FF"/>
                </a:solidFill>
                <a:latin typeface="Calibri"/>
              </a:rPr>
              <a:t>How Cyber Attacks Target Batteries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False Sensor Injection: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Adversaries send fake temperature or voltage signals, making the BMS miscalculate remaining battery charge (SoC) by &gt;33.8%.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Wireless Intrusion: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Unauthenticated Bluetooth signals can allow unauthorized phone apps to manipulate battery settings remotely.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Our Objective: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Build a smart 7-layer software engine that detects fake signals instantly, executes active recovery, and keeps the car running safely.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097280"/>
            <a:ext cx="3931920" cy="347472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280160"/>
            <a:ext cx="1645920" cy="822960"/>
          </a:xfrm>
          <a:prstGeom prst="rect">
            <a:avLst/>
          </a:prstGeom>
          <a:solidFill>
            <a:srgbClr val="E0F2FE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3716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84FF"/>
                </a:solidFill>
                <a:latin typeface="Calibri"/>
              </a:rPr>
              <a:t>☁️ CLOUD
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280160"/>
            <a:ext cx="1645920" cy="822960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3716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🚦 ROAD
INFRASTRUCTURE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468880"/>
            <a:ext cx="3200400" cy="1280160"/>
          </a:xfrm>
          <a:prstGeom prst="rect">
            <a:avLst/>
          </a:prstGeom>
          <a:solidFill>
            <a:srgbClr val="0F172A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651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🚗 CONNECTED ELECTRIC VEHICLE
(Internal CAN Bus + BMS + TCU)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⚡ Attacker Node (DoS / Spoofing / Replay)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9319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75569"/>
                </a:solidFill>
                <a:latin typeface="Calibri"/>
              </a:rPr>
              <a:t>▲  Connected Network Channels  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0" y="1645920"/>
            <a:ext cx="73152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Calibri"/>
              </a:rPr>
              <a:t>02 /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Calibri"/>
              </a:rPr>
              <a:t>A 7-layered protective shield combining AI detection, digital twin modeling,
and active self-healing recovery algorithms.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A 7-Layer Defense &amp; Self-Healing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965960" cy="150876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965960" cy="292608"/>
          </a:xfrm>
          <a:prstGeom prst="rect">
            <a:avLst/>
          </a:prstGeom>
          <a:solidFill>
            <a:srgbClr val="E0F2FE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84FF"/>
                </a:solidFill>
                <a:latin typeface="Calibri"/>
              </a:rPr>
              <a:t>1. BLE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75569"/>
                </a:solidFill>
                <a:latin typeface="Calibri"/>
              </a:rPr>
              <a:t>ECDH + AES-128 encryption &amp; NVS MAC whitelist.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777240"/>
            <a:ext cx="1965960" cy="150876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777240"/>
            <a:ext cx="1965960" cy="292608"/>
          </a:xfrm>
          <a:prstGeom prst="rect">
            <a:avLst/>
          </a:prstGeom>
          <a:solidFill>
            <a:srgbClr val="E0F2FE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82296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84FF"/>
                </a:solidFill>
                <a:latin typeface="Calibri"/>
              </a:rPr>
              <a:t>2. Command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14300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75569"/>
                </a:solidFill>
                <a:latin typeface="Calibri"/>
              </a:rPr>
              <a:t>HMAC-SHA256 tokens &amp; 32-byte single-use nonces.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777240"/>
            <a:ext cx="1965960" cy="150876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777240"/>
            <a:ext cx="1965960" cy="292608"/>
          </a:xfrm>
          <a:prstGeom prst="rect">
            <a:avLst/>
          </a:prstGeom>
          <a:solidFill>
            <a:srgbClr val="E0F2FE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82296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84FF"/>
                </a:solidFill>
                <a:latin typeface="Calibri"/>
              </a:rPr>
              <a:t>3. AI 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14300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75569"/>
                </a:solidFill>
                <a:latin typeface="Calibri"/>
              </a:rPr>
              <a:t>Core 0 ML-IDS classifying CAN traffic in &lt;0.35 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777240"/>
            <a:ext cx="1965960" cy="150876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777240"/>
            <a:ext cx="1965960" cy="292608"/>
          </a:xfrm>
          <a:prstGeom prst="rect">
            <a:avLst/>
          </a:prstGeom>
          <a:solidFill>
            <a:srgbClr val="E0F2FE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82296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84FF"/>
                </a:solidFill>
                <a:latin typeface="Calibri"/>
              </a:rPr>
              <a:t>4. Smart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14300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75569"/>
                </a:solidFill>
                <a:latin typeface="Calibri"/>
              </a:rPr>
              <a:t>Adaptive EKF (R_new = R_base * exp(10*S), Gain K-&gt;0).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23160"/>
            <a:ext cx="1965960" cy="150876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23160"/>
            <a:ext cx="1965960" cy="292608"/>
          </a:xfrm>
          <a:prstGeom prst="rect">
            <a:avLst/>
          </a:prstGeom>
          <a:solidFill>
            <a:srgbClr val="E0F2FE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468879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84FF"/>
                </a:solidFill>
                <a:latin typeface="Calibri"/>
              </a:rPr>
              <a:t>5. Self-Healing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78892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75569"/>
                </a:solidFill>
                <a:latin typeface="Calibri"/>
              </a:rPr>
              <a:t>Active recovery: Limp-home, reduce charge, isolate cell.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2423160"/>
            <a:ext cx="1965960" cy="150876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14600" y="2423160"/>
            <a:ext cx="1965960" cy="292608"/>
          </a:xfrm>
          <a:prstGeom prst="rect">
            <a:avLst/>
          </a:prstGeom>
          <a:solidFill>
            <a:srgbClr val="E0F2FE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2468879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84FF"/>
                </a:solidFill>
                <a:latin typeface="Calibri"/>
              </a:rPr>
              <a:t>6. Cell Reconfig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278892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75569"/>
                </a:solidFill>
                <a:latin typeface="Calibri"/>
              </a:rPr>
              <a:t>MOSFET cell balancing &amp; physical string isolation.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423160"/>
            <a:ext cx="1965960" cy="150876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2423160"/>
            <a:ext cx="1965960" cy="292608"/>
          </a:xfrm>
          <a:prstGeom prst="rect">
            <a:avLst/>
          </a:prstGeom>
          <a:solidFill>
            <a:srgbClr val="E0F2FE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468879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84FF"/>
                </a:solidFill>
                <a:latin typeface="Calibri"/>
              </a:rPr>
              <a:t>7. TCU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78892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475569"/>
                </a:solidFill>
                <a:latin typeface="Calibri"/>
              </a:rPr>
              <a:t>MQTT over TLS streaming verified telemetry &amp; logs.</a:t>
            </a:r>
          </a:p>
        </p:txBody>
      </p:sp>
      <p:pic>
        <p:nvPicPr>
          <p:cNvPr id="31" name="Picture 30" descr="media__17850048933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423160"/>
            <a:ext cx="2011680" cy="13398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AI Detection, Smart Estimator &amp; Digital Twin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560320" cy="347472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84FF"/>
                </a:solidFill>
                <a:latin typeface="Calibri"/>
              </a:rPr>
              <a:t>On-Board AI Intrusion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 lightweight Random Forest ML model trained to recognize irregular signal timings and abnormal payload spikes caused by hacker injection, operating in &lt;0.35 ms directly on an ESP32 chip.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Adaptive Battery Estimator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73736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When AI detects a cyber attack, the EKF battery estimator automatically lowers its trust in external sensor readings (R_new = R_base * exp(10*S)) and falls back on internal mathematical models.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2560320" cy="347472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Digital Twin Synchronization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 software digital twin predicts SoH (82%), internal resistance (+12.4%), capacity fade (-8.7%), and predictive thermal rise (43.2 °C), synchronizing real battery data with virtual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Key Performance Targets &amp; Verified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749039" cy="3474720"/>
          </a:xfrm>
          <a:prstGeom prst="rect">
            <a:avLst/>
          </a:prstGeom>
          <a:solidFill>
            <a:srgbClr val="E0F2FE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A84FF"/>
                </a:solidFill>
                <a:latin typeface="Calibri"/>
              </a:rPr>
              <a:t>&lt; 1.4%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84FF"/>
                </a:solidFill>
                <a:latin typeface="Calibri"/>
              </a:rPr>
              <a:t>Battery Charge Error Target (vs &gt;33.8% Unprotected)</a:t>
            </a:r>
          </a:p>
        </p:txBody>
      </p:sp>
      <p:pic>
        <p:nvPicPr>
          <p:cNvPr id="6" name="Picture 5" descr="id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34640"/>
            <a:ext cx="3383280" cy="29008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80560" y="1097280"/>
            <a:ext cx="4114800" cy="347472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280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Verified Project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374903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Classification Accuracy: 99.20% across 10,000 test frames
• Precision: 98.82%  |  Recall: 99.51%  |  F1-Score: 99.16%
• Macro ROC-AUC: 0.9942  |  PR-AUC: 0.9931
• Overall System Resilience: 99.8% attack mitigation
• Inference Latency: 0.35 ms (350 µs) on Core 0
• Resource Footprint: 38.4 KB SRAM (7.4% RAM usage)
• Power Consumption: Active 478.5 mW / Peak 693 mW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System Hardware &amp;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046720" cy="621792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1615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84FF"/>
                </a:solidFill>
                <a:latin typeface="Calibri"/>
              </a:rPr>
              <a:t>Microcontrollers: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179576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ESP32 Dual-Core processor (x3) to separate security monitoring tasks from battery control &amp; telematics. (Rs. 1,140)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46504"/>
            <a:ext cx="8046720" cy="621792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84FF"/>
                </a:solidFill>
                <a:latin typeface="Calibri"/>
              </a:rPr>
              <a:t>Battery Monitor IC: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7451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Texas Instruments BQ76920 for individual cell voltage measurement (Up to 16S) and passive cell balancing. (Rs. 520)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8046720" cy="621792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84FF"/>
                </a:solidFill>
                <a:latin typeface="Calibri"/>
              </a:rPr>
              <a:t>Vehicle Bus Transceiver: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6946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SN65HVD230 CAN transceiver (x3) for standard 500 kbps automotive network communication. (Rs. 360)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36392"/>
            <a:ext cx="8046720" cy="621792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009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84FF"/>
                </a:solidFill>
                <a:latin typeface="Calibri"/>
              </a:rPr>
              <a:t>Battery Pack &amp; PCB: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6440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16S Li-ion pack (57.6V nominal / 4S bench sub-module), balancing FETs, OLED, MicroSD, &amp; KiCad PCB. (Rs. 1,859)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31335"/>
            <a:ext cx="8046720" cy="621792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9592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84FF"/>
                </a:solidFill>
                <a:latin typeface="Calibri"/>
              </a:rPr>
              <a:t>Software &amp; Simulation: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59351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MATLAB R2025b, Python, FreeRTOS C++, Node-RED, &amp; Grafana cloud dashboards for real-time fleet analytics.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Mini-Project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468880"/>
            <a:ext cx="8046720" cy="4572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1828800" cy="13716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84FF"/>
                </a:solidFill>
                <a:latin typeface="Calibri"/>
              </a:rPr>
              <a:t>Phase 1: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Literature review on EV battery threats &amp; 7-layer BMS architectures.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097280"/>
            <a:ext cx="1828800" cy="13716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2344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84FF"/>
                </a:solidFill>
                <a:latin typeface="Calibri"/>
              </a:rPr>
              <a:t>Phase 2: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0876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Simulating battery behavior, Digital Twin, &amp; EKF attack vectors in MATLAB.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743200"/>
            <a:ext cx="1828800" cy="13716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84FF"/>
                </a:solidFill>
                <a:latin typeface="Calibri"/>
              </a:rPr>
              <a:t>Phase 3: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15468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Breadboard &amp; KiCad PCB prototyping with ESP32 &amp; BQ76920 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097280"/>
            <a:ext cx="1828800" cy="137160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2344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84FF"/>
                </a:solidFill>
                <a:latin typeface="Calibri"/>
              </a:rPr>
              <a:t>Phase 4: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50876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Evaluating threat detection accuracy, active recovery, &amp; cloud telemetry.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The Vision for Safe EVs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E0F2FE"/>
                </a:solidFill>
                <a:latin typeface="Calibri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Cybersecurity isn't just about protecting computers—it's about keeping the physical machines we rely on safe every single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84FF"/>
                </a:solidFill>
                <a:latin typeface="Calibri"/>
              </a:rPr>
              <a:t>— Project Objective: Building Secure, Self-Healing, Affordable, &amp; Reliable Electric Mobility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F172A"/>
                </a:solidFill>
                <a:latin typeface="Calibri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Calibri"/>
              </a:rPr>
              <a:t>Any Questions or Feedback on Our Concept?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0" y="3474720"/>
            <a:ext cx="5029200" cy="320040"/>
          </a:xfrm>
          <a:prstGeom prst="rect">
            <a:avLst/>
          </a:prstGeom>
          <a:solidFill>
            <a:srgbClr val="E0F2FE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35204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84FF"/>
                </a:solidFill>
                <a:latin typeface="Calibri"/>
              </a:rPr>
              <a:t>B.Tech EEE - 2nd Year Mini Project Concept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Image Sources &amp; Technical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046720" cy="493776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61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A84FF"/>
                </a:solidFill>
                <a:latin typeface="Calibri"/>
              </a:rPr>
              <a:t>ISO/SAE 21434:2021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1612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Road vehicles — Cybersecurity engineering standard for automotive electronic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18488"/>
            <a:ext cx="8046720" cy="493776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282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A84FF"/>
                </a:solidFill>
                <a:latin typeface="Calibri"/>
              </a:rPr>
              <a:t>ISO 11898-1:2015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282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Road vehicles — Controller area network (CAN) physical &amp; data link layer specification.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85415"/>
            <a:ext cx="8046720" cy="493776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951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A84FF"/>
                </a:solidFill>
                <a:latin typeface="Calibri"/>
              </a:rPr>
              <a:t>Taborelli &amp; Onori (2014)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951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State of Charge estimation using Extended Kalman Filter for Li-ion batteries (IEEE IEVC).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52344"/>
            <a:ext cx="8046720" cy="493776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620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A84FF"/>
                </a:solidFill>
                <a:latin typeface="Calibri"/>
              </a:rPr>
              <a:t>Plett G. L. (2015)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620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Battery Management Systems, Volume II: Equivalent-Circuit Methods (Artech House).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9272"/>
            <a:ext cx="8046720" cy="493776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A84FF"/>
                </a:solidFill>
                <a:latin typeface="Calibri"/>
              </a:rPr>
              <a:t>Peraković et al. (2023)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290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Machine Learning Approaches for CAN Bus Intrusion Detection in Connected Vehicles (MDPI Sensors).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86200"/>
            <a:ext cx="8046720" cy="493776"/>
          </a:xfrm>
          <a:prstGeom prst="rect">
            <a:avLst/>
          </a:prstGeom>
          <a:solidFill>
            <a:srgbClr val="F4F7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959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A84FF"/>
                </a:solidFill>
                <a:latin typeface="Calibri"/>
              </a:rPr>
              <a:t>Texas Instruments BQ76920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959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Technical Document SLUSBK7B — 3-5S / 16S Cell Li-Ion Battery Monitor Datasheet.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